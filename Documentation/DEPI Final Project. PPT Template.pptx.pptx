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legraf" charset="1" panose="00000500000000000000"/>
      <p:regular r:id="rId20"/>
    </p:embeddedFont>
    <p:embeddedFont>
      <p:font typeface="Telegraf Bold" charset="1" panose="00000800000000000000"/>
      <p:regular r:id="rId21"/>
    </p:embeddedFont>
    <p:embeddedFont>
      <p:font typeface="Proxima Nova Bold" charset="1" panose="02000506030000020004"/>
      <p:regular r:id="rId28"/>
    </p:embeddedFont>
    <p:embeddedFont>
      <p:font typeface="Proxima Nova" charset="1" panose="02000506030000020004"/>
      <p:regular r:id="rId29"/>
    </p:embeddedFont>
    <p:embeddedFont>
      <p:font typeface="HK Grotesk Bold" charset="1" panose="00000800000000000000"/>
      <p:regular r:id="rId32"/>
    </p:embeddedFont>
    <p:embeddedFont>
      <p:font typeface="Poppins Bold" charset="1" panose="0000080000000000000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fonts/font32.fntdata" Type="http://schemas.openxmlformats.org/officeDocument/2006/relationships/font"/><Relationship Id="rId33" Target="notesSlides/notesSlide10.xml" Type="http://schemas.openxmlformats.org/officeDocument/2006/relationships/notesSlide"/><Relationship Id="rId34" Target="fonts/font34.fntdata" Type="http://schemas.openxmlformats.org/officeDocument/2006/relationships/font"/><Relationship Id="rId35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5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6.jpe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8.jpeg" Type="http://schemas.openxmlformats.org/officeDocument/2006/relationships/image"/><Relationship Id="rId8" Target="../media/image9.jpeg" Type="http://schemas.openxmlformats.org/officeDocument/2006/relationships/image"/><Relationship Id="rId9" Target="../media/image10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2.jpeg" Type="http://schemas.openxmlformats.org/officeDocument/2006/relationships/image"/><Relationship Id="rId8" Target="../media/image13.jpeg" Type="http://schemas.openxmlformats.org/officeDocument/2006/relationships/image"/><Relationship Id="rId9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5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6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Relationship Id="rId7" Target="../media/image17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Relationship Id="rId6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86762" y="2195003"/>
            <a:ext cx="5985257" cy="5644524"/>
            <a:chOff x="0" y="0"/>
            <a:chExt cx="772894" cy="7288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72894" cy="728894"/>
            </a:xfrm>
            <a:custGeom>
              <a:avLst/>
              <a:gdLst/>
              <a:ahLst/>
              <a:cxnLst/>
              <a:rect r="r" b="b" t="t" l="l"/>
              <a:pathLst>
                <a:path h="728894" w="772894">
                  <a:moveTo>
                    <a:pt x="45272" y="0"/>
                  </a:moveTo>
                  <a:lnTo>
                    <a:pt x="727621" y="0"/>
                  </a:lnTo>
                  <a:cubicBezTo>
                    <a:pt x="752624" y="0"/>
                    <a:pt x="772894" y="20269"/>
                    <a:pt x="772894" y="45272"/>
                  </a:cubicBezTo>
                  <a:lnTo>
                    <a:pt x="772894" y="683621"/>
                  </a:lnTo>
                  <a:cubicBezTo>
                    <a:pt x="772894" y="708625"/>
                    <a:pt x="752624" y="728894"/>
                    <a:pt x="727621" y="728894"/>
                  </a:cubicBezTo>
                  <a:lnTo>
                    <a:pt x="45272" y="728894"/>
                  </a:lnTo>
                  <a:cubicBezTo>
                    <a:pt x="20269" y="728894"/>
                    <a:pt x="0" y="708625"/>
                    <a:pt x="0" y="683621"/>
                  </a:cubicBezTo>
                  <a:lnTo>
                    <a:pt x="0" y="45272"/>
                  </a:lnTo>
                  <a:cubicBezTo>
                    <a:pt x="0" y="20269"/>
                    <a:pt x="20269" y="0"/>
                    <a:pt x="45272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6272" r="0" b="-16272"/>
              </a:stretch>
            </a:blipFill>
            <a:ln cap="rnd">
              <a:noFill/>
              <a:prstDash val="solid"/>
              <a:round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7559504" y="3171820"/>
            <a:ext cx="10965903" cy="1971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250"/>
              </a:lnSpc>
            </a:pPr>
            <a:r>
              <a:rPr lang="en-US" sz="7500" spc="-75" b="true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Your-EYES</a:t>
            </a:r>
          </a:p>
          <a:p>
            <a:pPr algn="l" marL="0" indent="0" lvl="0">
              <a:lnSpc>
                <a:spcPts val="6600"/>
              </a:lnSpc>
            </a:pPr>
            <a:r>
              <a:rPr lang="en-US" b="true" sz="6000" spc="-60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(</a:t>
            </a:r>
            <a:r>
              <a:rPr lang="en-US" b="true" sz="6000" spc="-60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Intelligent Vision System)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141328" y="1737803"/>
            <a:ext cx="8019091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99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7271224" y="6715577"/>
            <a:ext cx="10219202" cy="1266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Presented by :</a:t>
            </a:r>
          </a:p>
          <a:p>
            <a:pPr algn="l">
              <a:lnSpc>
                <a:spcPts val="3239"/>
              </a:lnSpc>
              <a:spcBef>
                <a:spcPct val="0"/>
              </a:spcBef>
            </a:pPr>
            <a:r>
              <a:rPr lang="en-US" b="true" sz="2699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Abdelrahman gabr - Fatema Elzhraa - mohamed sadek  Mahmoud  Askar - Shahd Ahmed  - Nancy Ahmed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2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427708" y="1906952"/>
            <a:ext cx="14740915" cy="2257329"/>
            <a:chOff x="0" y="0"/>
            <a:chExt cx="19654554" cy="3009772"/>
          </a:xfrm>
        </p:grpSpPr>
        <p:sp>
          <p:nvSpPr>
            <p:cNvPr name="TextBox 21" id="21"/>
            <p:cNvSpPr txBox="true"/>
            <p:nvPr/>
          </p:nvSpPr>
          <p:spPr>
            <a:xfrm rot="0">
              <a:off x="0" y="-180975"/>
              <a:ext cx="19654554" cy="1980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1570"/>
                </a:lnSpc>
              </a:pPr>
              <a:r>
                <a:rPr lang="en-US" b="true" sz="8900" spc="-267">
                  <a:solidFill>
                    <a:srgbClr val="1869A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Project Idea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0" y="2406480"/>
              <a:ext cx="19654554" cy="6032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37"/>
                </a:lnSpc>
                <a:spcBef>
                  <a:spcPct val="0"/>
                </a:spcBef>
              </a:pPr>
              <a:r>
                <a:rPr lang="en-US" b="true" sz="2781" spc="-41">
                  <a:solidFill>
                    <a:srgbClr val="1869A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Addressing visual impairment challenges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136898" y="4881399"/>
            <a:ext cx="4810431" cy="3833662"/>
            <a:chOff x="0" y="0"/>
            <a:chExt cx="6413908" cy="5111549"/>
          </a:xfrm>
        </p:grpSpPr>
        <p:sp>
          <p:nvSpPr>
            <p:cNvPr name="TextBox 24" id="24"/>
            <p:cNvSpPr txBox="true"/>
            <p:nvPr/>
          </p:nvSpPr>
          <p:spPr>
            <a:xfrm rot="0">
              <a:off x="0" y="-38100"/>
              <a:ext cx="641390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3"/>
                </a:lnSpc>
                <a:spcBef>
                  <a:spcPct val="0"/>
                </a:spcBef>
              </a:pPr>
              <a:r>
                <a:rPr lang="en-US" b="true" sz="2860" spc="-42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Core Problem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1107577"/>
              <a:ext cx="6413908" cy="400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0"/>
                </a:lnSpc>
              </a:pPr>
              <a:r>
                <a:rPr lang="en-US" sz="2428" spc="-36" strike="noStrike" u="none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Many individuals with visual impairments struggle with real-time object recognition, leading to increased dependency on others and challenges in navigating their environments independently and safely.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865536" y="4852824"/>
            <a:ext cx="4717250" cy="4262287"/>
            <a:chOff x="0" y="0"/>
            <a:chExt cx="6289666" cy="5683049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38100"/>
              <a:ext cx="6289666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3"/>
                </a:lnSpc>
                <a:spcBef>
                  <a:spcPct val="0"/>
                </a:spcBef>
              </a:pPr>
              <a:r>
                <a:rPr lang="en-US" b="true" sz="2860" spc="-42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Innovative Solution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1107577"/>
              <a:ext cx="6289666" cy="45754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0"/>
                </a:lnSpc>
              </a:pPr>
              <a:r>
                <a:rPr lang="en-US" sz="2428" spc="-36" strike="noStrike" u="none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Our AI-based &amp; ML system provides real-time object detection and audio guidance, empowering users to identify objects around them, enhancing their ability to move confidently and independently in various settings.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2500993" y="4909974"/>
            <a:ext cx="4659426" cy="3833662"/>
            <a:chOff x="0" y="0"/>
            <a:chExt cx="6212568" cy="5111549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38100"/>
              <a:ext cx="6212568" cy="609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33"/>
                </a:lnSpc>
                <a:spcBef>
                  <a:spcPct val="0"/>
                </a:spcBef>
              </a:pPr>
              <a:r>
                <a:rPr lang="en-US" b="true" sz="2860" spc="-42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Unique Value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107577"/>
              <a:ext cx="6212568" cy="400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400"/>
                </a:lnSpc>
              </a:pPr>
              <a:r>
                <a:rPr lang="en-US" sz="2428" spc="-36" strike="noStrike" u="none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This technology offers a </a:t>
              </a:r>
              <a:r>
                <a:rPr lang="en-US" b="true" sz="2428" spc="-36" strike="noStrike" u="none">
                  <a:solidFill>
                    <a:srgbClr val="000000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unique value proposition</a:t>
              </a:r>
              <a:r>
                <a:rPr lang="en-US" sz="2428" spc="-36" strike="noStrike" u="none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 by combining accurate detection with audio feedback, significantly improving the user experience and ensuring a higher level of independence for visually impaired individuals.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3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17259300" y="9182100"/>
            <a:ext cx="152400" cy="22860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3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029027" y="1563391"/>
            <a:ext cx="6950493" cy="3713767"/>
            <a:chOff x="0" y="0"/>
            <a:chExt cx="2461381" cy="131515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461381" cy="1315158"/>
            </a:xfrm>
            <a:custGeom>
              <a:avLst/>
              <a:gdLst/>
              <a:ahLst/>
              <a:cxnLst/>
              <a:rect r="r" b="b" t="t" l="l"/>
              <a:pathLst>
                <a:path h="1315158" w="2461381">
                  <a:moveTo>
                    <a:pt x="22277" y="0"/>
                  </a:moveTo>
                  <a:lnTo>
                    <a:pt x="2439104" y="0"/>
                  </a:lnTo>
                  <a:cubicBezTo>
                    <a:pt x="2451407" y="0"/>
                    <a:pt x="2461381" y="9974"/>
                    <a:pt x="2461381" y="22277"/>
                  </a:cubicBezTo>
                  <a:lnTo>
                    <a:pt x="2461381" y="1292881"/>
                  </a:lnTo>
                  <a:cubicBezTo>
                    <a:pt x="2461381" y="1305184"/>
                    <a:pt x="2451407" y="1315158"/>
                    <a:pt x="2439104" y="1315158"/>
                  </a:cubicBezTo>
                  <a:lnTo>
                    <a:pt x="22277" y="1315158"/>
                  </a:lnTo>
                  <a:cubicBezTo>
                    <a:pt x="9974" y="1315158"/>
                    <a:pt x="0" y="1305184"/>
                    <a:pt x="0" y="1292881"/>
                  </a:cubicBezTo>
                  <a:lnTo>
                    <a:pt x="0" y="22277"/>
                  </a:lnTo>
                  <a:cubicBezTo>
                    <a:pt x="0" y="9974"/>
                    <a:pt x="9974" y="0"/>
                    <a:pt x="2227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573" r="0" b="-2573"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8756813" y="5388591"/>
            <a:ext cx="9222707" cy="3713767"/>
            <a:chOff x="0" y="0"/>
            <a:chExt cx="3266041" cy="131515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266041" cy="1315158"/>
            </a:xfrm>
            <a:custGeom>
              <a:avLst/>
              <a:gdLst/>
              <a:ahLst/>
              <a:cxnLst/>
              <a:rect r="r" b="b" t="t" l="l"/>
              <a:pathLst>
                <a:path h="1315158" w="3266041">
                  <a:moveTo>
                    <a:pt x="16789" y="0"/>
                  </a:moveTo>
                  <a:lnTo>
                    <a:pt x="3249252" y="0"/>
                  </a:lnTo>
                  <a:cubicBezTo>
                    <a:pt x="3253705" y="0"/>
                    <a:pt x="3257976" y="1769"/>
                    <a:pt x="3261124" y="4917"/>
                  </a:cubicBezTo>
                  <a:cubicBezTo>
                    <a:pt x="3264272" y="8066"/>
                    <a:pt x="3266041" y="12336"/>
                    <a:pt x="3266041" y="16789"/>
                  </a:cubicBezTo>
                  <a:lnTo>
                    <a:pt x="3266041" y="1298369"/>
                  </a:lnTo>
                  <a:cubicBezTo>
                    <a:pt x="3266041" y="1302822"/>
                    <a:pt x="3264272" y="1307092"/>
                    <a:pt x="3261124" y="1310241"/>
                  </a:cubicBezTo>
                  <a:cubicBezTo>
                    <a:pt x="3257976" y="1313389"/>
                    <a:pt x="3253705" y="1315158"/>
                    <a:pt x="3249252" y="1315158"/>
                  </a:cubicBezTo>
                  <a:lnTo>
                    <a:pt x="16789" y="1315158"/>
                  </a:lnTo>
                  <a:cubicBezTo>
                    <a:pt x="12336" y="1315158"/>
                    <a:pt x="8066" y="1313389"/>
                    <a:pt x="4917" y="1310241"/>
                  </a:cubicBezTo>
                  <a:cubicBezTo>
                    <a:pt x="1769" y="1307092"/>
                    <a:pt x="0" y="1302822"/>
                    <a:pt x="0" y="1298369"/>
                  </a:cubicBezTo>
                  <a:lnTo>
                    <a:pt x="0" y="16789"/>
                  </a:lnTo>
                  <a:cubicBezTo>
                    <a:pt x="0" y="12336"/>
                    <a:pt x="1769" y="8066"/>
                    <a:pt x="4917" y="4917"/>
                  </a:cubicBezTo>
                  <a:cubicBezTo>
                    <a:pt x="8066" y="1769"/>
                    <a:pt x="12336" y="0"/>
                    <a:pt x="16789" y="0"/>
                  </a:cubicBezTo>
                  <a:close/>
                </a:path>
              </a:pathLst>
            </a:custGeom>
            <a:blipFill>
              <a:blip r:embed="rId8"/>
              <a:stretch>
                <a:fillRect l="0" t="-20558" r="0" b="-7223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706078" y="2343681"/>
            <a:ext cx="9760248" cy="18225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86"/>
              </a:lnSpc>
            </a:pPr>
            <a:r>
              <a:rPr lang="en-US" b="true" sz="6260" spc="-187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User Interface Wireframe Overview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06078" y="4593994"/>
            <a:ext cx="6249231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67"/>
              </a:lnSpc>
              <a:spcBef>
                <a:spcPct val="0"/>
              </a:spcBef>
            </a:pPr>
            <a:r>
              <a:rPr lang="en-US" b="true" sz="2556" spc="-38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Visualizing user journey and interaction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06078" y="5237855"/>
            <a:ext cx="6249231" cy="216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38"/>
              </a:lnSpc>
            </a:pPr>
            <a:r>
              <a:rPr lang="en-US" sz="2456" spc="-3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This section highlights the key elements of the application's user interface, showcasing intuitive design that facilitates efficient interaction and enhances the overall user experience.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4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2491444" y="3407436"/>
            <a:ext cx="4000711" cy="4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3234" spc="-80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Visually Impaired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71062" y="3407436"/>
            <a:ext cx="4036420" cy="4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  <a:spcBef>
                <a:spcPct val="0"/>
              </a:spcBef>
            </a:pPr>
            <a:r>
              <a:rPr lang="en-US" b="true" sz="3234" spc="-80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Elderly Users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289660" y="3407436"/>
            <a:ext cx="3994170" cy="4982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558"/>
              </a:lnSpc>
            </a:pPr>
            <a:r>
              <a:rPr lang="en-US" b="true" sz="3234" spc="-8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Caregivers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28703" y="1560712"/>
            <a:ext cx="16359353" cy="93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738"/>
              </a:lnSpc>
            </a:pPr>
            <a:r>
              <a:rPr lang="en-US" b="true" sz="6125" strike="noStrike" u="none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End Users and Key Features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067451" y="7637052"/>
            <a:ext cx="5258521" cy="44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5"/>
              </a:lnSpc>
            </a:pPr>
            <a:r>
              <a:rPr lang="en-US" b="true" sz="2895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Customization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211789" y="8116427"/>
            <a:ext cx="5258521" cy="87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2"/>
              </a:lnSpc>
            </a:pP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Offers </a:t>
            </a:r>
            <a:r>
              <a:rPr lang="en-US" b="true" sz="2423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customizable settings</a:t>
            </a: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for user preferences.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514739" y="7637052"/>
            <a:ext cx="5258528" cy="44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5"/>
              </a:lnSpc>
            </a:pPr>
            <a:r>
              <a:rPr lang="en-US" b="true" sz="2895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Seniors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92155" y="8116427"/>
            <a:ext cx="5258528" cy="87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2"/>
              </a:lnSpc>
            </a:pP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Tailored </a:t>
            </a:r>
            <a:r>
              <a:rPr lang="en-US" b="true" sz="2423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for elderly users</a:t>
            </a: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to enhance independence.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028" y="7637052"/>
            <a:ext cx="5258528" cy="441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85"/>
              </a:lnSpc>
            </a:pPr>
            <a:r>
              <a:rPr lang="en-US" b="true" sz="2895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Individuals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3" y="8116427"/>
            <a:ext cx="5258528" cy="8718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92"/>
              </a:lnSpc>
            </a:pP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Designed to assist </a:t>
            </a:r>
            <a:r>
              <a:rPr lang="en-US" b="true" sz="2423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visually impaired individuals</a:t>
            </a:r>
            <a:r>
              <a:rPr lang="en-US" sz="2423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effectively.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962028" y="3105360"/>
            <a:ext cx="5258528" cy="4320818"/>
            <a:chOff x="0" y="0"/>
            <a:chExt cx="827486" cy="67992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39751" y="0"/>
                  </a:moveTo>
                  <a:lnTo>
                    <a:pt x="787735" y="0"/>
                  </a:lnTo>
                  <a:cubicBezTo>
                    <a:pt x="809689" y="0"/>
                    <a:pt x="827486" y="17797"/>
                    <a:pt x="827486" y="39751"/>
                  </a:cubicBezTo>
                  <a:lnTo>
                    <a:pt x="827486" y="640176"/>
                  </a:lnTo>
                  <a:cubicBezTo>
                    <a:pt x="827486" y="662130"/>
                    <a:pt x="809689" y="679927"/>
                    <a:pt x="787735" y="679927"/>
                  </a:cubicBezTo>
                  <a:lnTo>
                    <a:pt x="39751" y="679927"/>
                  </a:lnTo>
                  <a:cubicBezTo>
                    <a:pt x="17797" y="679927"/>
                    <a:pt x="0" y="662130"/>
                    <a:pt x="0" y="640176"/>
                  </a:cubicBezTo>
                  <a:lnTo>
                    <a:pt x="0" y="39751"/>
                  </a:lnTo>
                  <a:cubicBezTo>
                    <a:pt x="0" y="17797"/>
                    <a:pt x="17797" y="0"/>
                    <a:pt x="39751" y="0"/>
                  </a:cubicBezTo>
                  <a:close/>
                </a:path>
              </a:pathLst>
            </a:custGeom>
            <a:blipFill>
              <a:blip r:embed="rId7"/>
              <a:stretch>
                <a:fillRect l="-332" t="0" r="-332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2067451" y="3105360"/>
            <a:ext cx="5254349" cy="4320818"/>
            <a:chOff x="0" y="0"/>
            <a:chExt cx="826828" cy="67992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26828" cy="679927"/>
            </a:xfrm>
            <a:custGeom>
              <a:avLst/>
              <a:gdLst/>
              <a:ahLst/>
              <a:cxnLst/>
              <a:rect r="r" b="b" t="t" l="l"/>
              <a:pathLst>
                <a:path h="679927" w="826828">
                  <a:moveTo>
                    <a:pt x="39783" y="0"/>
                  </a:moveTo>
                  <a:lnTo>
                    <a:pt x="787046" y="0"/>
                  </a:lnTo>
                  <a:cubicBezTo>
                    <a:pt x="797597" y="0"/>
                    <a:pt x="807716" y="4191"/>
                    <a:pt x="815176" y="11652"/>
                  </a:cubicBezTo>
                  <a:cubicBezTo>
                    <a:pt x="822637" y="19113"/>
                    <a:pt x="826828" y="29232"/>
                    <a:pt x="826828" y="39783"/>
                  </a:cubicBezTo>
                  <a:lnTo>
                    <a:pt x="826828" y="640145"/>
                  </a:lnTo>
                  <a:cubicBezTo>
                    <a:pt x="826828" y="650696"/>
                    <a:pt x="822637" y="660814"/>
                    <a:pt x="815176" y="668275"/>
                  </a:cubicBezTo>
                  <a:cubicBezTo>
                    <a:pt x="807716" y="675736"/>
                    <a:pt x="797597" y="679927"/>
                    <a:pt x="787046" y="679927"/>
                  </a:cubicBezTo>
                  <a:lnTo>
                    <a:pt x="39783" y="679927"/>
                  </a:lnTo>
                  <a:cubicBezTo>
                    <a:pt x="29232" y="679927"/>
                    <a:pt x="19113" y="675736"/>
                    <a:pt x="11652" y="668275"/>
                  </a:cubicBezTo>
                  <a:cubicBezTo>
                    <a:pt x="4191" y="660814"/>
                    <a:pt x="0" y="650696"/>
                    <a:pt x="0" y="640145"/>
                  </a:cubicBezTo>
                  <a:lnTo>
                    <a:pt x="0" y="39783"/>
                  </a:lnTo>
                  <a:cubicBezTo>
                    <a:pt x="0" y="29232"/>
                    <a:pt x="4191" y="19113"/>
                    <a:pt x="11652" y="11652"/>
                  </a:cubicBezTo>
                  <a:cubicBezTo>
                    <a:pt x="19113" y="4191"/>
                    <a:pt x="29232" y="0"/>
                    <a:pt x="39783" y="0"/>
                  </a:cubicBezTo>
                  <a:close/>
                </a:path>
              </a:pathLst>
            </a:custGeom>
            <a:blipFill>
              <a:blip r:embed="rId8"/>
              <a:stretch>
                <a:fillRect l="-372" t="0" r="-372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6514739" y="3105360"/>
            <a:ext cx="5258528" cy="4320818"/>
            <a:chOff x="0" y="0"/>
            <a:chExt cx="827486" cy="67992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27486" cy="679927"/>
            </a:xfrm>
            <a:custGeom>
              <a:avLst/>
              <a:gdLst/>
              <a:ahLst/>
              <a:cxnLst/>
              <a:rect r="r" b="b" t="t" l="l"/>
              <a:pathLst>
                <a:path h="679927" w="827486">
                  <a:moveTo>
                    <a:pt x="39751" y="0"/>
                  </a:moveTo>
                  <a:lnTo>
                    <a:pt x="787735" y="0"/>
                  </a:lnTo>
                  <a:cubicBezTo>
                    <a:pt x="809689" y="0"/>
                    <a:pt x="827486" y="17797"/>
                    <a:pt x="827486" y="39751"/>
                  </a:cubicBezTo>
                  <a:lnTo>
                    <a:pt x="827486" y="640176"/>
                  </a:lnTo>
                  <a:cubicBezTo>
                    <a:pt x="827486" y="662130"/>
                    <a:pt x="809689" y="679927"/>
                    <a:pt x="787735" y="679927"/>
                  </a:cubicBezTo>
                  <a:lnTo>
                    <a:pt x="39751" y="679927"/>
                  </a:lnTo>
                  <a:cubicBezTo>
                    <a:pt x="17797" y="679927"/>
                    <a:pt x="0" y="662130"/>
                    <a:pt x="0" y="640176"/>
                  </a:cubicBezTo>
                  <a:lnTo>
                    <a:pt x="0" y="39751"/>
                  </a:lnTo>
                  <a:cubicBezTo>
                    <a:pt x="0" y="17797"/>
                    <a:pt x="17797" y="0"/>
                    <a:pt x="39751" y="0"/>
                  </a:cubicBezTo>
                  <a:close/>
                </a:path>
              </a:pathLst>
            </a:custGeom>
            <a:blipFill>
              <a:blip r:embed="rId9"/>
              <a:stretch>
                <a:fillRect l="-332" t="0" r="-332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5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655974" y="1451958"/>
            <a:ext cx="5504444" cy="7709867"/>
            <a:chOff x="0" y="0"/>
            <a:chExt cx="876367" cy="122749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76367" cy="1227494"/>
            </a:xfrm>
            <a:custGeom>
              <a:avLst/>
              <a:gdLst/>
              <a:ahLst/>
              <a:cxnLst/>
              <a:rect r="r" b="b" t="t" l="l"/>
              <a:pathLst>
                <a:path h="1227494" w="876367">
                  <a:moveTo>
                    <a:pt x="53446" y="0"/>
                  </a:moveTo>
                  <a:lnTo>
                    <a:pt x="822920" y="0"/>
                  </a:lnTo>
                  <a:cubicBezTo>
                    <a:pt x="837095" y="0"/>
                    <a:pt x="850690" y="5631"/>
                    <a:pt x="860713" y="15654"/>
                  </a:cubicBezTo>
                  <a:cubicBezTo>
                    <a:pt x="870736" y="25677"/>
                    <a:pt x="876367" y="39272"/>
                    <a:pt x="876367" y="53446"/>
                  </a:cubicBezTo>
                  <a:lnTo>
                    <a:pt x="876367" y="1174048"/>
                  </a:lnTo>
                  <a:cubicBezTo>
                    <a:pt x="876367" y="1188222"/>
                    <a:pt x="870736" y="1201817"/>
                    <a:pt x="860713" y="1211840"/>
                  </a:cubicBezTo>
                  <a:cubicBezTo>
                    <a:pt x="850690" y="1221863"/>
                    <a:pt x="837095" y="1227494"/>
                    <a:pt x="822920" y="1227494"/>
                  </a:cubicBezTo>
                  <a:lnTo>
                    <a:pt x="53446" y="1227494"/>
                  </a:lnTo>
                  <a:cubicBezTo>
                    <a:pt x="39272" y="1227494"/>
                    <a:pt x="25677" y="1221863"/>
                    <a:pt x="15654" y="1211840"/>
                  </a:cubicBezTo>
                  <a:cubicBezTo>
                    <a:pt x="5631" y="1201817"/>
                    <a:pt x="0" y="1188222"/>
                    <a:pt x="0" y="1174048"/>
                  </a:cubicBezTo>
                  <a:lnTo>
                    <a:pt x="0" y="53446"/>
                  </a:lnTo>
                  <a:cubicBezTo>
                    <a:pt x="0" y="39272"/>
                    <a:pt x="5631" y="25677"/>
                    <a:pt x="15654" y="15654"/>
                  </a:cubicBezTo>
                  <a:cubicBezTo>
                    <a:pt x="25677" y="5631"/>
                    <a:pt x="39272" y="0"/>
                    <a:pt x="53446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455" r="0" b="-455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  <p:sp>
        <p:nvSpPr>
          <p:cNvPr name="TextBox 22" id="22"/>
          <p:cNvSpPr txBox="true"/>
          <p:nvPr/>
        </p:nvSpPr>
        <p:spPr>
          <a:xfrm rot="0">
            <a:off x="526128" y="3650396"/>
            <a:ext cx="10543303" cy="9488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640"/>
              </a:lnSpc>
            </a:pPr>
            <a:r>
              <a:rPr lang="en-US" b="true" sz="280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Overview of database architecture, entities, and data flow management for the system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26128" y="4788343"/>
            <a:ext cx="10802610" cy="353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1814" indent="-290907" lvl="1">
              <a:lnSpc>
                <a:spcPts val="3503"/>
              </a:lnSpc>
              <a:buFont typeface="Arial"/>
              <a:buChar char="•"/>
            </a:pP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We used the </a:t>
            </a:r>
            <a:r>
              <a:rPr lang="en-US" b="true" sz="2694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COCO2017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Dataset as the ra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data (Images + JSON annotations).</a:t>
            </a:r>
          </a:p>
          <a:p>
            <a:pPr algn="l" marL="581814" indent="-290907" lvl="1">
              <a:lnSpc>
                <a:spcPts val="3503"/>
              </a:lnSpc>
              <a:buFont typeface="Arial"/>
              <a:buChar char="•"/>
            </a:pP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We selected only </a:t>
            </a:r>
            <a:r>
              <a:rPr lang="en-US" b="true" sz="2694" strike="noStrike" u="none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35 classes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out o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the o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iginal 80 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redu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 tr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ining ti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me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, dat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set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ze, 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d im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rove model q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u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ali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y.</a:t>
            </a:r>
          </a:p>
          <a:p>
            <a:pPr algn="l" marL="581814" indent="-290907" lvl="1">
              <a:lnSpc>
                <a:spcPts val="3503"/>
              </a:lnSpc>
              <a:buFont typeface="Arial"/>
              <a:buChar char="•"/>
            </a:pP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We preserved the orig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in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al ima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g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e IDs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and d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imens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io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ns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wi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h no modifica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t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ions.</a:t>
            </a:r>
          </a:p>
          <a:p>
            <a:pPr algn="l" marL="581814" indent="-290907" lvl="1">
              <a:lnSpc>
                <a:spcPts val="3503"/>
              </a:lnSpc>
              <a:buFont typeface="Arial"/>
              <a:buChar char="•"/>
            </a:pP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We converted the annotations from 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C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OCO J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</a:t>
            </a:r>
            <a:r>
              <a:rPr lang="en-US" sz="2694" strike="noStrike" u="none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ON → YOLO format, generating one TXT label file for each image.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26128" y="1848587"/>
            <a:ext cx="10552097" cy="16536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82"/>
              </a:lnSpc>
            </a:pPr>
            <a:r>
              <a:rPr lang="en-US" b="true" sz="5711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Data Structure(Dataset overview)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6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485162" y="3571677"/>
            <a:ext cx="3397695" cy="2333902"/>
            <a:chOff x="0" y="0"/>
            <a:chExt cx="1363334" cy="93648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363334" cy="936484"/>
            </a:xfrm>
            <a:custGeom>
              <a:avLst/>
              <a:gdLst/>
              <a:ahLst/>
              <a:cxnLst/>
              <a:rect r="r" b="b" t="t" l="l"/>
              <a:pathLst>
                <a:path h="936484" w="1363334">
                  <a:moveTo>
                    <a:pt x="54686" y="0"/>
                  </a:moveTo>
                  <a:lnTo>
                    <a:pt x="1308648" y="0"/>
                  </a:lnTo>
                  <a:cubicBezTo>
                    <a:pt x="1323151" y="0"/>
                    <a:pt x="1337061" y="5762"/>
                    <a:pt x="1347316" y="16017"/>
                  </a:cubicBezTo>
                  <a:cubicBezTo>
                    <a:pt x="1357572" y="26273"/>
                    <a:pt x="1363334" y="40182"/>
                    <a:pt x="1363334" y="54686"/>
                  </a:cubicBezTo>
                  <a:lnTo>
                    <a:pt x="1363334" y="881798"/>
                  </a:lnTo>
                  <a:cubicBezTo>
                    <a:pt x="1363334" y="896302"/>
                    <a:pt x="1357572" y="910211"/>
                    <a:pt x="1347316" y="920467"/>
                  </a:cubicBezTo>
                  <a:cubicBezTo>
                    <a:pt x="1337061" y="930722"/>
                    <a:pt x="1323151" y="936484"/>
                    <a:pt x="1308648" y="936484"/>
                  </a:cubicBezTo>
                  <a:lnTo>
                    <a:pt x="54686" y="936484"/>
                  </a:lnTo>
                  <a:cubicBezTo>
                    <a:pt x="40182" y="936484"/>
                    <a:pt x="26273" y="930722"/>
                    <a:pt x="16017" y="920467"/>
                  </a:cubicBezTo>
                  <a:cubicBezTo>
                    <a:pt x="5762" y="910211"/>
                    <a:pt x="0" y="896302"/>
                    <a:pt x="0" y="881798"/>
                  </a:cubicBezTo>
                  <a:lnTo>
                    <a:pt x="0" y="54686"/>
                  </a:lnTo>
                  <a:cubicBezTo>
                    <a:pt x="0" y="40182"/>
                    <a:pt x="5762" y="26273"/>
                    <a:pt x="16017" y="16017"/>
                  </a:cubicBezTo>
                  <a:cubicBezTo>
                    <a:pt x="26273" y="5762"/>
                    <a:pt x="40182" y="0"/>
                    <a:pt x="54686" y="0"/>
                  </a:cubicBezTo>
                  <a:close/>
                </a:path>
              </a:pathLst>
            </a:custGeom>
            <a:blipFill>
              <a:blip r:embed="rId7"/>
              <a:stretch>
                <a:fillRect l="-2335" t="0" r="-2335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0447696" y="6029512"/>
            <a:ext cx="3472626" cy="2282705"/>
            <a:chOff x="0" y="0"/>
            <a:chExt cx="1333267" cy="876413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333267" cy="876413"/>
            </a:xfrm>
            <a:custGeom>
              <a:avLst/>
              <a:gdLst/>
              <a:ahLst/>
              <a:cxnLst/>
              <a:rect r="r" b="b" t="t" l="l"/>
              <a:pathLst>
                <a:path h="876413" w="1333267">
                  <a:moveTo>
                    <a:pt x="53506" y="0"/>
                  </a:moveTo>
                  <a:lnTo>
                    <a:pt x="1279761" y="0"/>
                  </a:lnTo>
                  <a:cubicBezTo>
                    <a:pt x="1309312" y="0"/>
                    <a:pt x="1333267" y="23955"/>
                    <a:pt x="1333267" y="53506"/>
                  </a:cubicBezTo>
                  <a:lnTo>
                    <a:pt x="1333267" y="822908"/>
                  </a:lnTo>
                  <a:cubicBezTo>
                    <a:pt x="1333267" y="852458"/>
                    <a:pt x="1309312" y="876413"/>
                    <a:pt x="1279761" y="876413"/>
                  </a:cubicBezTo>
                  <a:lnTo>
                    <a:pt x="53506" y="876413"/>
                  </a:lnTo>
                  <a:cubicBezTo>
                    <a:pt x="23955" y="876413"/>
                    <a:pt x="0" y="852458"/>
                    <a:pt x="0" y="822908"/>
                  </a:cubicBezTo>
                  <a:lnTo>
                    <a:pt x="0" y="53506"/>
                  </a:lnTo>
                  <a:cubicBezTo>
                    <a:pt x="0" y="23955"/>
                    <a:pt x="23955" y="0"/>
                    <a:pt x="53506" y="0"/>
                  </a:cubicBezTo>
                  <a:close/>
                </a:path>
              </a:pathLst>
            </a:custGeom>
            <a:blipFill>
              <a:blip r:embed="rId8"/>
              <a:stretch>
                <a:fillRect l="-83" t="0" r="-83" b="0"/>
              </a:stretch>
            </a:blip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804139" y="2378142"/>
            <a:ext cx="14405663" cy="65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36"/>
              </a:lnSpc>
              <a:spcBef>
                <a:spcPct val="0"/>
              </a:spcBef>
            </a:pPr>
            <a:r>
              <a:rPr lang="en-US" b="true" sz="5447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Programming Languages + Frameworks Languages :</a:t>
            </a:r>
          </a:p>
          <a:p>
            <a:pPr algn="l">
              <a:lnSpc>
                <a:spcPts val="3774"/>
              </a:lnSpc>
              <a:spcBef>
                <a:spcPct val="0"/>
              </a:spcBef>
            </a:pP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Languages: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Python 3.11(Core development)</a:t>
            </a:r>
          </a:p>
          <a:p>
            <a:pPr algn="l">
              <a:lnSpc>
                <a:spcPts val="3451"/>
              </a:lnSpc>
              <a:spcBef>
                <a:spcPct val="0"/>
              </a:spcBef>
            </a:pPr>
          </a:p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Frameworks &amp; Tools: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YOLOv11 (Ultralytics)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Streamlit (GUI frontend)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OpenCV (video/image processing)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PyTorch (deep learning backend)</a:t>
            </a:r>
          </a:p>
          <a:p>
            <a:pPr algn="l" marL="620990" indent="-310495" lvl="1">
              <a:lnSpc>
                <a:spcPts val="3451"/>
              </a:lnSpc>
              <a:buFont typeface="Arial"/>
              <a:buChar char="•"/>
            </a:pPr>
            <a:r>
              <a:rPr lang="en-US" sz="2876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+Extra features</a:t>
            </a:r>
          </a:p>
          <a:p>
            <a:pPr algn="l">
              <a:lnSpc>
                <a:spcPts val="3451"/>
              </a:lnSpc>
            </a:pPr>
          </a:p>
        </p:txBody>
      </p:sp>
      <p:grpSp>
        <p:nvGrpSpPr>
          <p:cNvPr name="Group 25" id="25"/>
          <p:cNvGrpSpPr/>
          <p:nvPr/>
        </p:nvGrpSpPr>
        <p:grpSpPr>
          <a:xfrm rot="0">
            <a:off x="13984107" y="3498940"/>
            <a:ext cx="4010025" cy="4813277"/>
            <a:chOff x="0" y="0"/>
            <a:chExt cx="909703" cy="1091926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9703" cy="1091926"/>
            </a:xfrm>
            <a:custGeom>
              <a:avLst/>
              <a:gdLst/>
              <a:ahLst/>
              <a:cxnLst/>
              <a:rect r="r" b="b" t="t" l="l"/>
              <a:pathLst>
                <a:path h="1091926" w="909703">
                  <a:moveTo>
                    <a:pt x="77226" y="0"/>
                  </a:moveTo>
                  <a:lnTo>
                    <a:pt x="832477" y="0"/>
                  </a:lnTo>
                  <a:cubicBezTo>
                    <a:pt x="875127" y="0"/>
                    <a:pt x="909703" y="34575"/>
                    <a:pt x="909703" y="77226"/>
                  </a:cubicBezTo>
                  <a:lnTo>
                    <a:pt x="909703" y="1014700"/>
                  </a:lnTo>
                  <a:cubicBezTo>
                    <a:pt x="909703" y="1057351"/>
                    <a:pt x="875127" y="1091926"/>
                    <a:pt x="832477" y="1091926"/>
                  </a:cubicBezTo>
                  <a:lnTo>
                    <a:pt x="77226" y="1091926"/>
                  </a:lnTo>
                  <a:cubicBezTo>
                    <a:pt x="34575" y="1091926"/>
                    <a:pt x="0" y="1057351"/>
                    <a:pt x="0" y="1014700"/>
                  </a:cubicBezTo>
                  <a:lnTo>
                    <a:pt x="0" y="77226"/>
                  </a:lnTo>
                  <a:cubicBezTo>
                    <a:pt x="0" y="34575"/>
                    <a:pt x="34575" y="0"/>
                    <a:pt x="77226" y="0"/>
                  </a:cubicBezTo>
                  <a:close/>
                </a:path>
              </a:pathLst>
            </a:custGeom>
            <a:blipFill>
              <a:blip r:embed="rId9"/>
              <a:stretch>
                <a:fillRect l="-3788" t="0" r="-3788" b="0"/>
              </a:stretch>
            </a:blipFill>
            <a:ln w="19050" cap="rnd">
              <a:solidFill>
                <a:srgbClr val="FFFFFF"/>
              </a:solidFill>
              <a:prstDash val="solid"/>
              <a:round/>
            </a:ln>
          </p:spPr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9525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7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0834145" y="1451958"/>
            <a:ext cx="6600486" cy="7425547"/>
            <a:chOff x="0" y="0"/>
            <a:chExt cx="1457995" cy="1640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46917" y="0"/>
                  </a:moveTo>
                  <a:lnTo>
                    <a:pt x="1411078" y="0"/>
                  </a:lnTo>
                  <a:cubicBezTo>
                    <a:pt x="1436989" y="0"/>
                    <a:pt x="1457995" y="21006"/>
                    <a:pt x="1457995" y="46917"/>
                  </a:cubicBezTo>
                  <a:lnTo>
                    <a:pt x="1457995" y="1593327"/>
                  </a:lnTo>
                  <a:cubicBezTo>
                    <a:pt x="1457995" y="1619239"/>
                    <a:pt x="1436989" y="1640244"/>
                    <a:pt x="1411078" y="1640244"/>
                  </a:cubicBezTo>
                  <a:lnTo>
                    <a:pt x="46917" y="1640244"/>
                  </a:lnTo>
                  <a:cubicBezTo>
                    <a:pt x="21006" y="1640244"/>
                    <a:pt x="0" y="1619239"/>
                    <a:pt x="0" y="1593327"/>
                  </a:cubicBezTo>
                  <a:lnTo>
                    <a:pt x="0" y="46917"/>
                  </a:lnTo>
                  <a:cubicBezTo>
                    <a:pt x="0" y="21006"/>
                    <a:pt x="21006" y="0"/>
                    <a:pt x="46917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19" r="0" b="-219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28610" y="2160573"/>
            <a:ext cx="9805445" cy="6170241"/>
            <a:chOff x="0" y="0"/>
            <a:chExt cx="13073927" cy="8226988"/>
          </a:xfrm>
        </p:grpSpPr>
        <p:sp>
          <p:nvSpPr>
            <p:cNvPr name="TextBox 23" id="23"/>
            <p:cNvSpPr txBox="true"/>
            <p:nvPr/>
          </p:nvSpPr>
          <p:spPr>
            <a:xfrm rot="0">
              <a:off x="0" y="3543300"/>
              <a:ext cx="13052994" cy="19685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Overview of Deployment, user feedback, and system performance improvements(specifically Model accuracy). 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6165778"/>
              <a:ext cx="13073927" cy="20612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120"/>
                </a:lnSpc>
              </a:pP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Conducted unit and integration testing.(Done)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Positive user feedback on audio guidance features(Done)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Improvements made based on usability testing results(Doing)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-19050"/>
              <a:ext cx="13063881" cy="312631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b="true" sz="8000">
                  <a:solidFill>
                    <a:srgbClr val="1869A6"/>
                  </a:solidFill>
                  <a:latin typeface="Telegraf Bold"/>
                  <a:ea typeface="Telegraf Bold"/>
                  <a:cs typeface="Telegraf Bold"/>
                  <a:sym typeface="Telegraf Bold"/>
                </a:rPr>
                <a:t>Current Application Status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3810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8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6848" y="1762125"/>
            <a:ext cx="14077950" cy="12617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799"/>
              </a:lnSpc>
            </a:pPr>
            <a:r>
              <a:rPr lang="en-US" b="true" sz="8799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Deliverables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6848" y="3295070"/>
            <a:ext cx="7915360" cy="4103316"/>
            <a:chOff x="0" y="0"/>
            <a:chExt cx="10553814" cy="547108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38100"/>
              <a:ext cx="10536915" cy="13081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00"/>
                </a:lnSpc>
              </a:pPr>
              <a:r>
                <a:rPr lang="en-US" b="true" sz="3000">
                  <a:solidFill>
                    <a:srgbClr val="000000"/>
                  </a:solidFill>
                  <a:latin typeface="Proxima Nova Bold"/>
                  <a:ea typeface="Proxima Nova Bold"/>
                  <a:cs typeface="Proxima Nova Bold"/>
                  <a:sym typeface="Proxima Nova Bold"/>
                </a:rPr>
                <a:t>Overview of reports, timelines, and final products developed for the system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2368478"/>
              <a:ext cx="10553814" cy="31026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Technical documentation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Source code repository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Working Website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Web-Cam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Training materials</a:t>
              </a:r>
            </a:p>
            <a:p>
              <a:pPr algn="l" marL="518160" indent="-259080" lvl="1">
                <a:lnSpc>
                  <a:spcPts val="3120"/>
                </a:lnSpc>
                <a:buFont typeface="Arial"/>
                <a:buChar char="•"/>
              </a:pPr>
              <a:r>
                <a:rPr lang="en-US" sz="2400" strike="noStrike" u="none">
                  <a:solidFill>
                    <a:srgbClr val="000000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Team Presentation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1937252" y="2079955"/>
            <a:ext cx="5807595" cy="6533544"/>
            <a:chOff x="0" y="0"/>
            <a:chExt cx="1457995" cy="164024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53323" y="0"/>
                  </a:moveTo>
                  <a:lnTo>
                    <a:pt x="1404672" y="0"/>
                  </a:lnTo>
                  <a:cubicBezTo>
                    <a:pt x="1434122" y="0"/>
                    <a:pt x="1457995" y="23873"/>
                    <a:pt x="1457995" y="53323"/>
                  </a:cubicBezTo>
                  <a:lnTo>
                    <a:pt x="1457995" y="1586922"/>
                  </a:lnTo>
                  <a:cubicBezTo>
                    <a:pt x="1457995" y="1616371"/>
                    <a:pt x="1434122" y="1640244"/>
                    <a:pt x="1404672" y="1640244"/>
                  </a:cubicBezTo>
                  <a:lnTo>
                    <a:pt x="53323" y="1640244"/>
                  </a:lnTo>
                  <a:cubicBezTo>
                    <a:pt x="23873" y="1640244"/>
                    <a:pt x="0" y="1616371"/>
                    <a:pt x="0" y="1586922"/>
                  </a:cubicBezTo>
                  <a:lnTo>
                    <a:pt x="0" y="53323"/>
                  </a:lnTo>
                  <a:cubicBezTo>
                    <a:pt x="0" y="23873"/>
                    <a:pt x="23873" y="0"/>
                    <a:pt x="53323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19" r="0" b="-219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9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616848" y="1733550"/>
            <a:ext cx="14077950" cy="890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0"/>
              </a:lnSpc>
            </a:pPr>
            <a:r>
              <a:rPr lang="en-US" b="true" sz="6200">
                <a:solidFill>
                  <a:srgbClr val="1869A6"/>
                </a:solidFill>
                <a:latin typeface="Telegraf Bold"/>
                <a:ea typeface="Telegraf Bold"/>
                <a:cs typeface="Telegraf Bold"/>
                <a:sym typeface="Telegraf Bold"/>
              </a:rPr>
              <a:t>Project Deliverables(Pipeline Arch.)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8292" y="4046918"/>
            <a:ext cx="3739507" cy="1543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1"/>
              </a:lnSpc>
              <a:spcBef>
                <a:spcPct val="0"/>
              </a:spcBef>
            </a:pP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Data Collection, Pre-processing, and Analysis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710038" y="6426936"/>
            <a:ext cx="4157576" cy="20583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1"/>
              </a:lnSpc>
              <a:spcBef>
                <a:spcPct val="0"/>
              </a:spcBef>
            </a:pP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Image/Video Classification and Object Detection</a:t>
            </a: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Model Development </a:t>
            </a:r>
          </a:p>
        </p:txBody>
      </p:sp>
      <p:sp>
        <p:nvSpPr>
          <p:cNvPr name="AutoShape 23" id="23"/>
          <p:cNvSpPr/>
          <p:nvPr/>
        </p:nvSpPr>
        <p:spPr>
          <a:xfrm>
            <a:off x="842800" y="6266124"/>
            <a:ext cx="19817866" cy="0"/>
          </a:xfrm>
          <a:prstGeom prst="line">
            <a:avLst/>
          </a:prstGeom>
          <a:ln cap="flat" w="19050">
            <a:solidFill>
              <a:srgbClr val="1869A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4" id="24"/>
          <p:cNvGrpSpPr/>
          <p:nvPr/>
        </p:nvGrpSpPr>
        <p:grpSpPr>
          <a:xfrm rot="0">
            <a:off x="478292" y="6083870"/>
            <a:ext cx="364507" cy="364507"/>
            <a:chOff x="0" y="0"/>
            <a:chExt cx="6350000" cy="6350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4710038" y="6083870"/>
            <a:ext cx="364507" cy="364507"/>
            <a:chOff x="0" y="0"/>
            <a:chExt cx="6350000" cy="6350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869A6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482317" y="6083870"/>
            <a:ext cx="364507" cy="364507"/>
            <a:chOff x="0" y="0"/>
            <a:chExt cx="6350000" cy="635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869A6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482317" y="4561517"/>
            <a:ext cx="4376566" cy="102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1"/>
              </a:lnSpc>
              <a:spcBef>
                <a:spcPct val="0"/>
              </a:spcBef>
            </a:pP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Advanced Techn</a:t>
            </a: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iques, Transfer Learning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4256899" y="6031549"/>
            <a:ext cx="364507" cy="364507"/>
            <a:chOff x="0" y="0"/>
            <a:chExt cx="6350000" cy="635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869A6"/>
            </a:solidFill>
          </p:spPr>
        </p:sp>
      </p:grpSp>
      <p:sp>
        <p:nvSpPr>
          <p:cNvPr name="TextBox 33" id="33"/>
          <p:cNvSpPr txBox="true"/>
          <p:nvPr/>
        </p:nvSpPr>
        <p:spPr>
          <a:xfrm rot="0">
            <a:off x="14256899" y="6941534"/>
            <a:ext cx="4275022" cy="10291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051"/>
              </a:lnSpc>
              <a:spcBef>
                <a:spcPct val="0"/>
              </a:spcBef>
            </a:pP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MLOps, Mon</a:t>
            </a:r>
            <a:r>
              <a:rPr lang="en-US" b="true" sz="3376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itoring, and Web Interface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</a:t>
              </a:r>
            </a:p>
          </p:txBody>
        </p:sp>
      </p:grpSp>
      <p:grpSp>
        <p:nvGrpSpPr>
          <p:cNvPr name="Group 18" id="18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19" id="19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1815221" y="1739443"/>
            <a:ext cx="6051657" cy="6808114"/>
            <a:chOff x="0" y="0"/>
            <a:chExt cx="1457995" cy="1640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57995" cy="1640244"/>
            </a:xfrm>
            <a:custGeom>
              <a:avLst/>
              <a:gdLst/>
              <a:ahLst/>
              <a:cxnLst/>
              <a:rect r="r" b="b" t="t" l="l"/>
              <a:pathLst>
                <a:path h="1640244" w="1457995">
                  <a:moveTo>
                    <a:pt x="51172" y="0"/>
                  </a:moveTo>
                  <a:lnTo>
                    <a:pt x="1406823" y="0"/>
                  </a:lnTo>
                  <a:cubicBezTo>
                    <a:pt x="1435084" y="0"/>
                    <a:pt x="1457995" y="22911"/>
                    <a:pt x="1457995" y="51172"/>
                  </a:cubicBezTo>
                  <a:lnTo>
                    <a:pt x="1457995" y="1589072"/>
                  </a:lnTo>
                  <a:cubicBezTo>
                    <a:pt x="1457995" y="1617334"/>
                    <a:pt x="1435084" y="1640244"/>
                    <a:pt x="1406823" y="1640244"/>
                  </a:cubicBezTo>
                  <a:lnTo>
                    <a:pt x="51172" y="1640244"/>
                  </a:lnTo>
                  <a:cubicBezTo>
                    <a:pt x="22911" y="1640244"/>
                    <a:pt x="0" y="1617334"/>
                    <a:pt x="0" y="1589072"/>
                  </a:cubicBezTo>
                  <a:lnTo>
                    <a:pt x="0" y="51172"/>
                  </a:lnTo>
                  <a:cubicBezTo>
                    <a:pt x="0" y="22911"/>
                    <a:pt x="22911" y="0"/>
                    <a:pt x="51172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219" r="0" b="-219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759236" y="3060399"/>
            <a:ext cx="10299342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Roles and responsibilities of our dedicated project team members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42719" y="4222449"/>
            <a:ext cx="10315860" cy="379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...(will be added after finishing the last phase)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67163" y="1577674"/>
            <a:ext cx="10307933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800"/>
              </a:lnSpc>
            </a:pPr>
            <a:r>
              <a:rPr lang="en-US" b="true" sz="8000">
                <a:solidFill>
                  <a:srgbClr val="1869A6"/>
                </a:solidFill>
                <a:latin typeface="Poppins Bold"/>
                <a:ea typeface="Poppins Bold"/>
                <a:cs typeface="Poppins Bold"/>
                <a:sym typeface="Poppins Bold"/>
              </a:rPr>
              <a:t>Team Composition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86213" y="6177737"/>
            <a:ext cx="3562486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00"/>
              </a:lnSpc>
            </a:pPr>
            <a:r>
              <a:rPr lang="en-US" b="true" sz="3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C</a:t>
            </a:r>
            <a:r>
              <a:rPr lang="en-US" b="true" sz="3000">
                <a:solidFill>
                  <a:srgbClr val="000000"/>
                </a:solidFill>
                <a:latin typeface="Proxima Nova Bold"/>
                <a:ea typeface="Proxima Nova Bold"/>
                <a:cs typeface="Proxima Nova Bold"/>
                <a:sym typeface="Proxima Nova Bold"/>
              </a:rPr>
              <a:t>ollaboration: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86213" y="6844487"/>
            <a:ext cx="10315860" cy="1550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GitHub version 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control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Agile weekly sprint 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u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p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dat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Sha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ed 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issue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ra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c</a:t>
            </a: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king</a:t>
            </a:r>
          </a:p>
          <a:p>
            <a:pPr algn="l" marL="518160" indent="-259080" lvl="1">
              <a:lnSpc>
                <a:spcPts val="3120"/>
              </a:lnSpc>
              <a:buFont typeface="Arial"/>
              <a:buChar char="•"/>
            </a:pPr>
            <a:r>
              <a:rPr lang="en-US" sz="2400" strike="noStrike" u="none">
                <a:solidFill>
                  <a:srgbClr val="000000"/>
                </a:solidFill>
                <a:latin typeface="Proxima Nova"/>
                <a:ea typeface="Proxima Nova"/>
                <a:cs typeface="Proxima Nova"/>
                <a:sym typeface="Proxima Nova"/>
              </a:rPr>
              <a:t>Notion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17" b="0"/>
              </a:stretch>
            </a:blipFill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257300" y="9508378"/>
            <a:ext cx="4114800" cy="573834"/>
            <a:chOff x="0" y="0"/>
            <a:chExt cx="5486400" cy="7651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486400" cy="765175"/>
            </a:xfrm>
            <a:custGeom>
              <a:avLst/>
              <a:gdLst/>
              <a:ahLst/>
              <a:cxnLst/>
              <a:rect r="r" b="b" t="t" l="l"/>
              <a:pathLst>
                <a:path h="765175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65175"/>
                  </a:lnTo>
                  <a:lnTo>
                    <a:pt x="0" y="765175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6461284" y="9516022"/>
            <a:ext cx="699135" cy="647885"/>
            <a:chOff x="0" y="0"/>
            <a:chExt cx="932180" cy="86384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932180" cy="863854"/>
            </a:xfrm>
            <a:custGeom>
              <a:avLst/>
              <a:gdLst/>
              <a:ahLst/>
              <a:cxnLst/>
              <a:rect r="r" b="b" t="t" l="l"/>
              <a:pathLst>
                <a:path h="863854" w="932180">
                  <a:moveTo>
                    <a:pt x="0" y="0"/>
                  </a:moveTo>
                  <a:lnTo>
                    <a:pt x="932180" y="0"/>
                  </a:lnTo>
                  <a:lnTo>
                    <a:pt x="932180" y="863854"/>
                  </a:lnTo>
                  <a:lnTo>
                    <a:pt x="0" y="863854"/>
                  </a:lnTo>
                  <a:close/>
                </a:path>
              </a:pathLst>
            </a:custGeom>
            <a:solidFill>
              <a:srgbClr val="1869A6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6067268" y="495320"/>
            <a:ext cx="1926864" cy="956639"/>
            <a:chOff x="0" y="0"/>
            <a:chExt cx="2569152" cy="127551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569210" cy="1275461"/>
            </a:xfrm>
            <a:custGeom>
              <a:avLst/>
              <a:gdLst/>
              <a:ahLst/>
              <a:cxnLst/>
              <a:rect r="r" b="b" t="t" l="l"/>
              <a:pathLst>
                <a:path h="1275461" w="2569210">
                  <a:moveTo>
                    <a:pt x="0" y="0"/>
                  </a:moveTo>
                  <a:lnTo>
                    <a:pt x="2569210" y="0"/>
                  </a:lnTo>
                  <a:lnTo>
                    <a:pt x="2569210" y="1275461"/>
                  </a:lnTo>
                  <a:lnTo>
                    <a:pt x="0" y="127546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2" b="-4"/>
              </a:stretch>
            </a:blipFill>
          </p:spPr>
        </p:sp>
      </p:grpSp>
      <p:grpSp>
        <p:nvGrpSpPr>
          <p:cNvPr name="Group 14" id="14"/>
          <p:cNvGrpSpPr>
            <a:grpSpLocks noChangeAspect="true"/>
          </p:cNvGrpSpPr>
          <p:nvPr/>
        </p:nvGrpSpPr>
        <p:grpSpPr>
          <a:xfrm rot="0">
            <a:off x="139976" y="0"/>
            <a:ext cx="2234648" cy="2079956"/>
            <a:chOff x="0" y="0"/>
            <a:chExt cx="2979530" cy="2773274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79547" cy="2773299"/>
            </a:xfrm>
            <a:custGeom>
              <a:avLst/>
              <a:gdLst/>
              <a:ahLst/>
              <a:cxnLst/>
              <a:rect r="r" b="b" t="t" l="l"/>
              <a:pathLst>
                <a:path h="2773299" w="2979547">
                  <a:moveTo>
                    <a:pt x="0" y="0"/>
                  </a:moveTo>
                  <a:lnTo>
                    <a:pt x="2979547" y="0"/>
                  </a:lnTo>
                  <a:lnTo>
                    <a:pt x="2979547" y="2773299"/>
                  </a:lnTo>
                  <a:lnTo>
                    <a:pt x="0" y="27732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-1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257300" y="9534525"/>
            <a:ext cx="4114800" cy="547688"/>
            <a:chOff x="0" y="0"/>
            <a:chExt cx="5486400" cy="7302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sz="24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10/14/24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915900" y="9534525"/>
            <a:ext cx="4114800" cy="547688"/>
            <a:chOff x="0" y="0"/>
            <a:chExt cx="5486400" cy="73025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486400" cy="730250"/>
            </a:xfrm>
            <a:custGeom>
              <a:avLst/>
              <a:gdLst/>
              <a:ahLst/>
              <a:cxnLst/>
              <a:rect r="r" b="b" t="t" l="l"/>
              <a:pathLst>
                <a:path h="730250" w="5486400">
                  <a:moveTo>
                    <a:pt x="0" y="0"/>
                  </a:moveTo>
                  <a:lnTo>
                    <a:pt x="5486400" y="0"/>
                  </a:lnTo>
                  <a:lnTo>
                    <a:pt x="5486400" y="730250"/>
                  </a:lnTo>
                  <a:lnTo>
                    <a:pt x="0" y="73025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5486400" cy="7588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000000"/>
                  </a:solidFill>
                  <a:latin typeface="Telegraf"/>
                  <a:ea typeface="Telegraf"/>
                  <a:cs typeface="Telegraf"/>
                  <a:sym typeface="Telegraf"/>
                </a:rPr>
                <a:t>11</a:t>
              </a:r>
            </a:p>
          </p:txBody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3734410" y="9520833"/>
            <a:ext cx="2213280" cy="575070"/>
            <a:chOff x="0" y="0"/>
            <a:chExt cx="2951040" cy="766760"/>
          </a:xfrm>
        </p:grpSpPr>
        <p:sp>
          <p:nvSpPr>
            <p:cNvPr name="Freeform 23" id="23" descr="A blue text on a black background  AI-generated content may be incorrect."/>
            <p:cNvSpPr/>
            <p:nvPr/>
          </p:nvSpPr>
          <p:spPr>
            <a:xfrm flipH="false" flipV="false" rot="0">
              <a:off x="0" y="0"/>
              <a:ext cx="2951099" cy="766699"/>
            </a:xfrm>
            <a:custGeom>
              <a:avLst/>
              <a:gdLst/>
              <a:ahLst/>
              <a:cxnLst/>
              <a:rect r="r" b="b" t="t" l="l"/>
              <a:pathLst>
                <a:path h="766699" w="2951099">
                  <a:moveTo>
                    <a:pt x="0" y="0"/>
                  </a:moveTo>
                  <a:lnTo>
                    <a:pt x="2951099" y="0"/>
                  </a:lnTo>
                  <a:lnTo>
                    <a:pt x="2951099" y="766699"/>
                  </a:lnTo>
                  <a:lnTo>
                    <a:pt x="0" y="7666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1" b="-7"/>
              </a:stretch>
            </a:blip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-765384" y="2721283"/>
            <a:ext cx="19818768" cy="2422217"/>
            <a:chOff x="0" y="0"/>
            <a:chExt cx="26425024" cy="3229623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0"/>
              <a:ext cx="26425024" cy="20653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1209"/>
                </a:lnSpc>
              </a:pPr>
              <a:r>
                <a:rPr lang="en-US" b="true" sz="10190">
                  <a:solidFill>
                    <a:srgbClr val="1869A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Thank You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0" y="2424512"/>
              <a:ext cx="26425024" cy="80511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4967"/>
                </a:lnSpc>
              </a:pPr>
              <a:r>
                <a:rPr lang="en-US" sz="3821">
                  <a:solidFill>
                    <a:srgbClr val="1869A6"/>
                  </a:solidFill>
                  <a:latin typeface="Proxima Nova"/>
                  <a:ea typeface="Proxima Nova"/>
                  <a:cs typeface="Proxima Nova"/>
                  <a:sym typeface="Proxima Nova"/>
                </a:rPr>
                <a:t>Your questions and feedback are appreciated for improvement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DAG5f5XcRe8</dc:identifier>
  <dcterms:modified xsi:type="dcterms:W3CDTF">2011-08-01T06:04:30Z</dcterms:modified>
  <cp:revision>1</cp:revision>
  <dc:title>DEPI Final Project. PPT Template.pptx</dc:title>
</cp:coreProperties>
</file>